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61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FE5A-5C91-8ECE-43E5-2F07583D1C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293C38-6315-EF92-4E79-181B084AF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23CA52-C9F9-969D-41C8-4CF0748CBBEB}"/>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9F9EC424-D563-0163-7B77-658CB6145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64AE2B-41A2-AB0B-3A9A-13217F6A66A7}"/>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282581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ADEA-CFE8-587E-7CDA-08CB7C888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0EA976-BC59-86A5-F2CA-DBA57A7C2F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16DA42-E712-20B4-3D7C-5F24A58D0693}"/>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B91003DD-1557-9896-AB81-02A7D0ECD8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B8CB9-3187-1BA5-97A5-B6006BEBABDC}"/>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353688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9FEE-7184-B1BF-ED40-1435A1C7AA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2B3A66-35AC-A36D-66BD-7EC3996BD5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E31070-D393-D3EF-C9BF-4F77A5076A28}"/>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1A322C60-067C-C3D0-982C-7F44B998B0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A50C56-D4FE-2F45-82D3-CC06DF9DBBAA}"/>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2833336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204BB-3546-F894-AF58-09F14B156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67DD60-951E-3956-24A9-A0EB9D7900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100F77-CE96-93F3-FF27-2DA663903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76463F-E3AD-78BD-37E4-799C8400A865}"/>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6" name="Footer Placeholder 5">
            <a:extLst>
              <a:ext uri="{FF2B5EF4-FFF2-40B4-BE49-F238E27FC236}">
                <a16:creationId xmlns:a16="http://schemas.microsoft.com/office/drawing/2014/main" id="{6F0CE836-1568-1199-21A8-5D69A3E743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F38763-6A76-53A6-F5E8-05D93268ED09}"/>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1509160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1DE2F-AFB1-2E22-EB43-553CA7E409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3AA246-6847-E211-65B7-9F99A5B1B6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76BBB8-10C7-CC41-1257-A11CE10EA2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8D839B-F6C3-1D38-2045-8A4A692D5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DCE4A2-3934-0EEE-F8A5-B8D04F715E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8EF7C6-1EED-C30C-1A78-26BB35F1D1BB}"/>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8" name="Footer Placeholder 7">
            <a:extLst>
              <a:ext uri="{FF2B5EF4-FFF2-40B4-BE49-F238E27FC236}">
                <a16:creationId xmlns:a16="http://schemas.microsoft.com/office/drawing/2014/main" id="{4DF76616-D019-B890-0C33-44E9FAD848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37B0CC-57C2-30D6-2EB3-C464CCA81564}"/>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1981365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CD62A-5B9A-B38E-AC18-4AC82E2B04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82CD0E-6495-B7CF-2B0D-8F3126870C5A}"/>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4" name="Footer Placeholder 3">
            <a:extLst>
              <a:ext uri="{FF2B5EF4-FFF2-40B4-BE49-F238E27FC236}">
                <a16:creationId xmlns:a16="http://schemas.microsoft.com/office/drawing/2014/main" id="{EB52320E-1CB6-A10B-B8FF-CB0880746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B870A0-96B4-6A26-BF11-D81EC8BACF60}"/>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274859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9ED9C0-3A5A-1E3B-08FC-6E9BC7FAB108}"/>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3" name="Footer Placeholder 2">
            <a:extLst>
              <a:ext uri="{FF2B5EF4-FFF2-40B4-BE49-F238E27FC236}">
                <a16:creationId xmlns:a16="http://schemas.microsoft.com/office/drawing/2014/main" id="{D35E6FDB-017E-3995-B95C-7C4D9391A5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30251F-AD51-F5C2-CEAC-B6CE93F954E4}"/>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1393631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48EC-E892-50B6-EC1E-CC85C3555B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93A978-DFE5-C72E-9A36-2FC4B07130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0651F9-526E-9A41-55E7-823E6CB29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81F31A-1090-E883-9297-1273008DFC55}"/>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6" name="Footer Placeholder 5">
            <a:extLst>
              <a:ext uri="{FF2B5EF4-FFF2-40B4-BE49-F238E27FC236}">
                <a16:creationId xmlns:a16="http://schemas.microsoft.com/office/drawing/2014/main" id="{305B6400-FEF7-B5F0-195B-9F8F03ACCD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C84228-A77A-1ADE-CC94-0CB4BFF48DD4}"/>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3284812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CDEE-B45B-7A6F-2849-92BB305A46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77C06C-65F0-5CC1-BCC5-7C1131CB45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EF9074-F690-0B1B-CE94-7BF3DCF7A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3204A-060F-4C1A-502C-DAD51F4AA1ED}"/>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6" name="Footer Placeholder 5">
            <a:extLst>
              <a:ext uri="{FF2B5EF4-FFF2-40B4-BE49-F238E27FC236}">
                <a16:creationId xmlns:a16="http://schemas.microsoft.com/office/drawing/2014/main" id="{66E233A9-2D6B-1887-DFA3-167AE88DBC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7F6152-354B-46EC-600F-2C5A2861C73A}"/>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10267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9343F-3036-16DD-3DD0-4782D9A06E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A01325-26C1-E2C4-BA2C-9840397BD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FD5BB8-1CF9-8110-7085-F47426E0D6F2}"/>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3BF69BE4-FBB2-9AF3-647B-90564811A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424E9-EDAC-DEB1-89B0-8F80B7AE76B2}"/>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29915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57CD5F-9AE9-2094-396A-C6B195524E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4AD261-C42A-496E-C372-2C76A3385B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EF3224-580B-EFBC-7511-26248A331811}"/>
              </a:ext>
            </a:extLst>
          </p:cNvPr>
          <p:cNvSpPr>
            <a:spLocks noGrp="1"/>
          </p:cNvSpPr>
          <p:nvPr>
            <p:ph type="dt" sz="half" idx="10"/>
          </p:nvPr>
        </p:nvSpPr>
        <p:spPr/>
        <p:txBody>
          <a:body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5DC38660-A3A9-768B-B317-ACE1319B6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D839DF-4AE4-B0D2-7314-FC4135C47D47}"/>
              </a:ext>
            </a:extLst>
          </p:cNvPr>
          <p:cNvSpPr>
            <a:spLocks noGrp="1"/>
          </p:cNvSpPr>
          <p:nvPr>
            <p:ph type="sldNum" sz="quarter" idx="12"/>
          </p:nvPr>
        </p:nvSpPr>
        <p:spPr/>
        <p:txBody>
          <a:bodyPr/>
          <a:lstStyle/>
          <a:p>
            <a:fld id="{A23A765C-FDFE-4DBB-9CDA-D32CCE0AC65B}" type="slidenum">
              <a:rPr lang="en-US" smtClean="0"/>
              <a:t>‹#›</a:t>
            </a:fld>
            <a:endParaRPr lang="en-US"/>
          </a:p>
        </p:txBody>
      </p:sp>
    </p:spTree>
    <p:extLst>
      <p:ext uri="{BB962C8B-B14F-4D97-AF65-F5344CB8AC3E}">
        <p14:creationId xmlns:p14="http://schemas.microsoft.com/office/powerpoint/2010/main" val="2135152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80ABF-AAC3-9904-23B4-BBC7FE835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A1FF60-28C2-9C96-9D18-2D4332121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64BA3-D19D-69D7-FD98-E0082AACC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2486B-937A-4730-8D16-FEC78838CBCA}" type="datetimeFigureOut">
              <a:rPr lang="en-US" smtClean="0"/>
              <a:t>8/9/2025</a:t>
            </a:fld>
            <a:endParaRPr lang="en-US"/>
          </a:p>
        </p:txBody>
      </p:sp>
      <p:sp>
        <p:nvSpPr>
          <p:cNvPr id="5" name="Footer Placeholder 4">
            <a:extLst>
              <a:ext uri="{FF2B5EF4-FFF2-40B4-BE49-F238E27FC236}">
                <a16:creationId xmlns:a16="http://schemas.microsoft.com/office/drawing/2014/main" id="{BBD3D636-35AA-C1C9-90D2-246659C446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0FFCA1-ED3C-A86D-83F0-74E6721737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3A765C-FDFE-4DBB-9CDA-D32CCE0AC65B}" type="slidenum">
              <a:rPr lang="en-US" smtClean="0"/>
              <a:t>‹#›</a:t>
            </a:fld>
            <a:endParaRPr lang="en-US"/>
          </a:p>
        </p:txBody>
      </p:sp>
    </p:spTree>
    <p:extLst>
      <p:ext uri="{BB962C8B-B14F-4D97-AF65-F5344CB8AC3E}">
        <p14:creationId xmlns:p14="http://schemas.microsoft.com/office/powerpoint/2010/main" val="1447921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FAF4-C0F7-B425-562B-19732559505A}"/>
              </a:ext>
            </a:extLst>
          </p:cNvPr>
          <p:cNvSpPr>
            <a:spLocks noGrp="1"/>
          </p:cNvSpPr>
          <p:nvPr>
            <p:ph type="ctrTitle"/>
          </p:nvPr>
        </p:nvSpPr>
        <p:spPr/>
        <p:txBody>
          <a:bodyPr>
            <a:normAutofit fontScale="90000"/>
          </a:bodyPr>
          <a:lstStyle/>
          <a:p>
            <a:r>
              <a:rPr lang="en-US" dirty="0"/>
              <a:t>Detecting Fraudulent Transactions with Advanced Machine Learning Techniques and Predictive Analytics</a:t>
            </a:r>
          </a:p>
        </p:txBody>
      </p:sp>
      <p:sp>
        <p:nvSpPr>
          <p:cNvPr id="3" name="Subtitle 2">
            <a:extLst>
              <a:ext uri="{FF2B5EF4-FFF2-40B4-BE49-F238E27FC236}">
                <a16:creationId xmlns:a16="http://schemas.microsoft.com/office/drawing/2014/main" id="{E3058EF3-9F22-1E7E-2BBB-6167B1C88195}"/>
              </a:ext>
            </a:extLst>
          </p:cNvPr>
          <p:cNvSpPr>
            <a:spLocks noGrp="1"/>
          </p:cNvSpPr>
          <p:nvPr>
            <p:ph type="subTitle" idx="1"/>
          </p:nvPr>
        </p:nvSpPr>
        <p:spPr>
          <a:xfrm>
            <a:off x="1824446" y="4751569"/>
            <a:ext cx="9144000" cy="1655762"/>
          </a:xfrm>
        </p:spPr>
        <p:txBody>
          <a:bodyPr/>
          <a:lstStyle/>
          <a:p>
            <a:r>
              <a:rPr lang="en-US" dirty="0"/>
              <a:t>Latha Palle</a:t>
            </a:r>
          </a:p>
        </p:txBody>
      </p:sp>
    </p:spTree>
    <p:extLst>
      <p:ext uri="{BB962C8B-B14F-4D97-AF65-F5344CB8AC3E}">
        <p14:creationId xmlns:p14="http://schemas.microsoft.com/office/powerpoint/2010/main" val="793804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13299-8CA7-6332-4E68-28A8EE3CDFBC}"/>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27EE451B-2BCB-FA5B-0D5B-9FC13FF4688B}"/>
              </a:ext>
            </a:extLst>
          </p:cNvPr>
          <p:cNvSpPr>
            <a:spLocks noGrp="1"/>
          </p:cNvSpPr>
          <p:nvPr>
            <p:ph idx="1"/>
          </p:nvPr>
        </p:nvSpPr>
        <p:spPr/>
        <p:txBody>
          <a:bodyPr/>
          <a:lstStyle/>
          <a:p>
            <a:r>
              <a:rPr lang="en-US" dirty="0"/>
              <a:t>Develop a machine learning model to detect potentially fraudulent transactions based on the provided features. The dataset contains information about various transactions, including account age, payment method, time of transaction, and category. The goal is to build a classification model that can accurately classify transactions as either legitimate or potentially fraudulent.</a:t>
            </a:r>
          </a:p>
          <a:p>
            <a:endParaRPr lang="en-US" dirty="0"/>
          </a:p>
        </p:txBody>
      </p:sp>
    </p:spTree>
    <p:extLst>
      <p:ext uri="{BB962C8B-B14F-4D97-AF65-F5344CB8AC3E}">
        <p14:creationId xmlns:p14="http://schemas.microsoft.com/office/powerpoint/2010/main" val="3614500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75BF-1DEE-614C-7F6B-9CDC079C0107}"/>
              </a:ext>
            </a:extLst>
          </p:cNvPr>
          <p:cNvSpPr>
            <a:spLocks noGrp="1"/>
          </p:cNvSpPr>
          <p:nvPr>
            <p:ph type="title"/>
          </p:nvPr>
        </p:nvSpPr>
        <p:spPr/>
        <p:txBody>
          <a:bodyPr/>
          <a:lstStyle/>
          <a:p>
            <a:r>
              <a:rPr lang="en-US" dirty="0"/>
              <a:t>Data Dictionary</a:t>
            </a:r>
          </a:p>
        </p:txBody>
      </p:sp>
      <p:sp>
        <p:nvSpPr>
          <p:cNvPr id="3" name="Content Placeholder 2">
            <a:extLst>
              <a:ext uri="{FF2B5EF4-FFF2-40B4-BE49-F238E27FC236}">
                <a16:creationId xmlns:a16="http://schemas.microsoft.com/office/drawing/2014/main" id="{790E018E-3743-0792-B105-FE08771FFEA7}"/>
              </a:ext>
            </a:extLst>
          </p:cNvPr>
          <p:cNvSpPr>
            <a:spLocks noGrp="1"/>
          </p:cNvSpPr>
          <p:nvPr>
            <p:ph idx="1"/>
          </p:nvPr>
        </p:nvSpPr>
        <p:spPr>
          <a:xfrm>
            <a:off x="838200" y="1541417"/>
            <a:ext cx="10515600" cy="4951458"/>
          </a:xfrm>
        </p:spPr>
        <p:txBody>
          <a:bodyPr>
            <a:normAutofit fontScale="85000" lnSpcReduction="20000"/>
          </a:bodyPr>
          <a:lstStyle/>
          <a:p>
            <a:pPr marL="0" indent="0">
              <a:buNone/>
            </a:pPr>
            <a:r>
              <a:rPr lang="en-US" b="1" dirty="0"/>
              <a:t>The dataset is having 39221 rows and 8 columns</a:t>
            </a:r>
            <a:endParaRPr lang="en-US" b="1" dirty="0">
              <a:solidFill>
                <a:srgbClr val="FF0000"/>
              </a:solidFill>
            </a:endParaRPr>
          </a:p>
          <a:p>
            <a:r>
              <a:rPr lang="en-US" b="1" dirty="0" err="1">
                <a:solidFill>
                  <a:srgbClr val="FF0000"/>
                </a:solidFill>
              </a:rPr>
              <a:t>accountAgeDays</a:t>
            </a:r>
            <a:r>
              <a:rPr lang="en-US" b="1" dirty="0">
                <a:solidFill>
                  <a:srgbClr val="FF0000"/>
                </a:solidFill>
              </a:rPr>
              <a:t>:</a:t>
            </a:r>
            <a:r>
              <a:rPr lang="en-US" b="1" dirty="0"/>
              <a:t> The number of days the account has been active.</a:t>
            </a:r>
          </a:p>
          <a:p>
            <a:r>
              <a:rPr lang="en-US" b="1" dirty="0" err="1">
                <a:solidFill>
                  <a:srgbClr val="FF0000"/>
                </a:solidFill>
              </a:rPr>
              <a:t>numItems</a:t>
            </a:r>
            <a:r>
              <a:rPr lang="en-US" b="1" dirty="0">
                <a:solidFill>
                  <a:srgbClr val="FF0000"/>
                </a:solidFill>
              </a:rPr>
              <a:t>:</a:t>
            </a:r>
            <a:r>
              <a:rPr lang="en-US" b="1" dirty="0"/>
              <a:t> The number of items associated with the account.</a:t>
            </a:r>
          </a:p>
          <a:p>
            <a:r>
              <a:rPr lang="en-US" b="1" dirty="0" err="1">
                <a:solidFill>
                  <a:srgbClr val="FF0000"/>
                </a:solidFill>
              </a:rPr>
              <a:t>localTime</a:t>
            </a:r>
            <a:r>
              <a:rPr lang="en-US" b="1" dirty="0">
                <a:solidFill>
                  <a:srgbClr val="FF0000"/>
                </a:solidFill>
              </a:rPr>
              <a:t>:</a:t>
            </a:r>
            <a:r>
              <a:rPr lang="en-US" b="1" dirty="0"/>
              <a:t> Some measure of time, possibly in hours or a similar unit.</a:t>
            </a:r>
          </a:p>
          <a:p>
            <a:r>
              <a:rPr lang="en-US" b="1" dirty="0" err="1">
                <a:solidFill>
                  <a:srgbClr val="FF0000"/>
                </a:solidFill>
              </a:rPr>
              <a:t>paymentMethod</a:t>
            </a:r>
            <a:r>
              <a:rPr lang="en-US" b="1" dirty="0">
                <a:solidFill>
                  <a:srgbClr val="FF0000"/>
                </a:solidFill>
              </a:rPr>
              <a:t>:</a:t>
            </a:r>
            <a:r>
              <a:rPr lang="en-US" b="1" dirty="0"/>
              <a:t> The method used for payment (e.g., PayPal, store credit, credit card).</a:t>
            </a:r>
          </a:p>
          <a:p>
            <a:r>
              <a:rPr lang="en-US" b="1" dirty="0" err="1">
                <a:solidFill>
                  <a:srgbClr val="FF0000"/>
                </a:solidFill>
              </a:rPr>
              <a:t>paymentMethodAgeDays</a:t>
            </a:r>
            <a:r>
              <a:rPr lang="en-US" b="1" dirty="0">
                <a:solidFill>
                  <a:srgbClr val="FF0000"/>
                </a:solidFill>
              </a:rPr>
              <a:t>:</a:t>
            </a:r>
            <a:r>
              <a:rPr lang="en-US" b="1" dirty="0"/>
              <a:t> The number of days since the payment method was associated with the account.(It indicates how long ago the current payment method (e.g., PayPal, credit card) was linked to the account.)</a:t>
            </a:r>
          </a:p>
          <a:p>
            <a:r>
              <a:rPr lang="en-US" b="1" dirty="0" err="1">
                <a:solidFill>
                  <a:srgbClr val="FF0000"/>
                </a:solidFill>
              </a:rPr>
              <a:t>isWeekend</a:t>
            </a:r>
            <a:r>
              <a:rPr lang="en-US" b="1" dirty="0">
                <a:solidFill>
                  <a:srgbClr val="FF0000"/>
                </a:solidFill>
              </a:rPr>
              <a:t>:</a:t>
            </a:r>
            <a:r>
              <a:rPr lang="en-US" b="1" dirty="0"/>
              <a:t> A binary indicator of whether the transaction occurred on a weekend (1 for yes, 0 for no).</a:t>
            </a:r>
          </a:p>
          <a:p>
            <a:r>
              <a:rPr lang="en-US" b="1" dirty="0">
                <a:solidFill>
                  <a:srgbClr val="FF0000"/>
                </a:solidFill>
              </a:rPr>
              <a:t>Category:</a:t>
            </a:r>
            <a:r>
              <a:rPr lang="en-US" b="1" dirty="0"/>
              <a:t> The category of the transaction (e.g., electronics, shopping, food).</a:t>
            </a:r>
          </a:p>
          <a:p>
            <a:r>
              <a:rPr lang="en-US" b="1" dirty="0">
                <a:solidFill>
                  <a:srgbClr val="FF0000"/>
                </a:solidFill>
              </a:rPr>
              <a:t>Label</a:t>
            </a:r>
            <a:r>
              <a:rPr lang="en-US" b="1" dirty="0"/>
              <a:t>(Target column) A binary label (0 for legitimate, 1 for potentially fraudulent).</a:t>
            </a:r>
          </a:p>
          <a:p>
            <a:endParaRPr lang="en-US" dirty="0"/>
          </a:p>
        </p:txBody>
      </p:sp>
    </p:spTree>
    <p:extLst>
      <p:ext uri="{BB962C8B-B14F-4D97-AF65-F5344CB8AC3E}">
        <p14:creationId xmlns:p14="http://schemas.microsoft.com/office/powerpoint/2010/main" val="46844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25089-0995-5F34-F733-EE8D2D953245}"/>
              </a:ext>
            </a:extLst>
          </p:cNvPr>
          <p:cNvSpPr>
            <a:spLocks noGrp="1"/>
          </p:cNvSpPr>
          <p:nvPr>
            <p:ph type="title"/>
          </p:nvPr>
        </p:nvSpPr>
        <p:spPr/>
        <p:txBody>
          <a:bodyPr/>
          <a:lstStyle/>
          <a:p>
            <a:r>
              <a:rPr lang="en-US" dirty="0"/>
              <a:t>Data Distribution of numerical features</a:t>
            </a:r>
          </a:p>
        </p:txBody>
      </p:sp>
      <p:pic>
        <p:nvPicPr>
          <p:cNvPr id="4" name="Content Placeholder 3">
            <a:extLst>
              <a:ext uri="{FF2B5EF4-FFF2-40B4-BE49-F238E27FC236}">
                <a16:creationId xmlns:a16="http://schemas.microsoft.com/office/drawing/2014/main" id="{D48EB119-50D7-2E4E-CF61-86C0441BBF42}"/>
              </a:ext>
            </a:extLst>
          </p:cNvPr>
          <p:cNvPicPr>
            <a:picLocks noGrp="1" noChangeAspect="1"/>
          </p:cNvPicPr>
          <p:nvPr>
            <p:ph idx="1"/>
          </p:nvPr>
        </p:nvPicPr>
        <p:blipFill>
          <a:blip r:embed="rId2"/>
          <a:stretch>
            <a:fillRect/>
          </a:stretch>
        </p:blipFill>
        <p:spPr>
          <a:xfrm>
            <a:off x="350539" y="1867989"/>
            <a:ext cx="11504238" cy="4271554"/>
          </a:xfrm>
          <a:prstGeom prst="rect">
            <a:avLst/>
          </a:prstGeom>
        </p:spPr>
      </p:pic>
    </p:spTree>
    <p:extLst>
      <p:ext uri="{BB962C8B-B14F-4D97-AF65-F5344CB8AC3E}">
        <p14:creationId xmlns:p14="http://schemas.microsoft.com/office/powerpoint/2010/main" val="192771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FB75F-E656-574F-1F57-1A3FD845B694}"/>
              </a:ext>
            </a:extLst>
          </p:cNvPr>
          <p:cNvSpPr>
            <a:spLocks noGrp="1"/>
          </p:cNvSpPr>
          <p:nvPr>
            <p:ph type="title"/>
          </p:nvPr>
        </p:nvSpPr>
        <p:spPr/>
        <p:txBody>
          <a:bodyPr/>
          <a:lstStyle/>
          <a:p>
            <a:r>
              <a:rPr lang="en-US" dirty="0"/>
              <a:t>Data Distribution of Categorical features</a:t>
            </a:r>
          </a:p>
        </p:txBody>
      </p:sp>
      <p:pic>
        <p:nvPicPr>
          <p:cNvPr id="5" name="Content Placeholder 4">
            <a:extLst>
              <a:ext uri="{FF2B5EF4-FFF2-40B4-BE49-F238E27FC236}">
                <a16:creationId xmlns:a16="http://schemas.microsoft.com/office/drawing/2014/main" id="{A564558B-DE40-7BEF-6D7E-B14F9ACD4DD4}"/>
              </a:ext>
            </a:extLst>
          </p:cNvPr>
          <p:cNvPicPr>
            <a:picLocks noGrp="1" noChangeAspect="1"/>
          </p:cNvPicPr>
          <p:nvPr>
            <p:ph idx="1"/>
          </p:nvPr>
        </p:nvPicPr>
        <p:blipFill>
          <a:blip r:embed="rId2"/>
          <a:stretch>
            <a:fillRect/>
          </a:stretch>
        </p:blipFill>
        <p:spPr>
          <a:xfrm>
            <a:off x="838200" y="2049059"/>
            <a:ext cx="10515600" cy="3904470"/>
          </a:xfrm>
          <a:prstGeom prst="rect">
            <a:avLst/>
          </a:prstGeom>
        </p:spPr>
      </p:pic>
    </p:spTree>
    <p:extLst>
      <p:ext uri="{BB962C8B-B14F-4D97-AF65-F5344CB8AC3E}">
        <p14:creationId xmlns:p14="http://schemas.microsoft.com/office/powerpoint/2010/main" val="2339924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CB45F-A7B8-76A9-B882-D6F2C4405ED6}"/>
              </a:ext>
            </a:extLst>
          </p:cNvPr>
          <p:cNvSpPr>
            <a:spLocks noGrp="1"/>
          </p:cNvSpPr>
          <p:nvPr>
            <p:ph type="title"/>
          </p:nvPr>
        </p:nvSpPr>
        <p:spPr>
          <a:xfrm>
            <a:off x="838200" y="365125"/>
            <a:ext cx="10515600" cy="888909"/>
          </a:xfrm>
        </p:spPr>
        <p:txBody>
          <a:bodyPr/>
          <a:lstStyle/>
          <a:p>
            <a:r>
              <a:rPr lang="en-US" dirty="0" err="1"/>
              <a:t>Analysing</a:t>
            </a:r>
            <a:r>
              <a:rPr lang="en-US" dirty="0"/>
              <a:t> the target column: Imbalance data </a:t>
            </a:r>
          </a:p>
        </p:txBody>
      </p:sp>
      <p:pic>
        <p:nvPicPr>
          <p:cNvPr id="5" name="Content Placeholder 4">
            <a:extLst>
              <a:ext uri="{FF2B5EF4-FFF2-40B4-BE49-F238E27FC236}">
                <a16:creationId xmlns:a16="http://schemas.microsoft.com/office/drawing/2014/main" id="{86DA3137-7056-FE2C-6980-A46BBBD18F9B}"/>
              </a:ext>
            </a:extLst>
          </p:cNvPr>
          <p:cNvPicPr>
            <a:picLocks noGrp="1" noChangeAspect="1"/>
          </p:cNvPicPr>
          <p:nvPr>
            <p:ph idx="1"/>
          </p:nvPr>
        </p:nvPicPr>
        <p:blipFill>
          <a:blip r:embed="rId2"/>
          <a:stretch>
            <a:fillRect/>
          </a:stretch>
        </p:blipFill>
        <p:spPr>
          <a:xfrm>
            <a:off x="838200" y="1800203"/>
            <a:ext cx="5610225" cy="4114800"/>
          </a:xfrm>
          <a:prstGeom prst="rect">
            <a:avLst/>
          </a:prstGeom>
        </p:spPr>
      </p:pic>
      <p:sp>
        <p:nvSpPr>
          <p:cNvPr id="7" name="TextBox 6">
            <a:extLst>
              <a:ext uri="{FF2B5EF4-FFF2-40B4-BE49-F238E27FC236}">
                <a16:creationId xmlns:a16="http://schemas.microsoft.com/office/drawing/2014/main" id="{7D195F33-AE48-924B-1595-5EF0A01697FD}"/>
              </a:ext>
            </a:extLst>
          </p:cNvPr>
          <p:cNvSpPr txBox="1"/>
          <p:nvPr/>
        </p:nvSpPr>
        <p:spPr>
          <a:xfrm>
            <a:off x="6560820" y="1914436"/>
            <a:ext cx="4294414" cy="2308324"/>
          </a:xfrm>
          <a:prstGeom prst="rect">
            <a:avLst/>
          </a:prstGeom>
          <a:noFill/>
        </p:spPr>
        <p:txBody>
          <a:bodyPr wrap="square">
            <a:spAutoFit/>
          </a:bodyPr>
          <a:lstStyle/>
          <a:p>
            <a:r>
              <a:rPr lang="en-US" b="0" i="0" dirty="0">
                <a:solidFill>
                  <a:srgbClr val="000000"/>
                </a:solidFill>
                <a:effectLst/>
                <a:latin typeface="Consolas" panose="020B0609020204030204" pitchFamily="49" charset="0"/>
              </a:rPr>
              <a:t>----------- Count -----------</a:t>
            </a:r>
          </a:p>
          <a:p>
            <a:r>
              <a:rPr lang="en-US" b="0" i="0" dirty="0">
                <a:solidFill>
                  <a:srgbClr val="000000"/>
                </a:solidFill>
                <a:effectLst/>
                <a:latin typeface="Consolas" panose="020B0609020204030204" pitchFamily="49" charset="0"/>
              </a:rPr>
              <a:t> label	</a:t>
            </a:r>
          </a:p>
          <a:p>
            <a:r>
              <a:rPr lang="en-US" b="0" i="0" dirty="0">
                <a:solidFill>
                  <a:srgbClr val="000000"/>
                </a:solidFill>
                <a:effectLst/>
                <a:latin typeface="Consolas" panose="020B0609020204030204" pitchFamily="49" charset="0"/>
              </a:rPr>
              <a:t> 0 --- 35792 </a:t>
            </a:r>
          </a:p>
          <a:p>
            <a:r>
              <a:rPr lang="en-US" b="0" i="0" dirty="0">
                <a:solidFill>
                  <a:srgbClr val="000000"/>
                </a:solidFill>
                <a:effectLst/>
                <a:latin typeface="Consolas" panose="020B0609020204030204" pitchFamily="49" charset="0"/>
              </a:rPr>
              <a:t> 1 --- 396 </a:t>
            </a:r>
          </a:p>
          <a:p>
            <a:endParaRPr lang="en-US" dirty="0">
              <a:solidFill>
                <a:srgbClr val="000000"/>
              </a:solidFill>
              <a:latin typeface="Consolas" panose="020B0609020204030204" pitchFamily="49" charset="0"/>
            </a:endParaRPr>
          </a:p>
          <a:p>
            <a:r>
              <a:rPr lang="en-US" b="0" i="0" dirty="0">
                <a:solidFill>
                  <a:srgbClr val="000000"/>
                </a:solidFill>
                <a:effectLst/>
                <a:latin typeface="Consolas" panose="020B0609020204030204" pitchFamily="49" charset="0"/>
              </a:rPr>
              <a:t> label (%)</a:t>
            </a:r>
          </a:p>
          <a:p>
            <a:r>
              <a:rPr lang="en-US" dirty="0">
                <a:solidFill>
                  <a:srgbClr val="000000"/>
                </a:solidFill>
                <a:latin typeface="Consolas" panose="020B0609020204030204" pitchFamily="49" charset="0"/>
              </a:rPr>
              <a:t> </a:t>
            </a:r>
            <a:r>
              <a:rPr lang="en-US" b="0" i="0" dirty="0">
                <a:solidFill>
                  <a:srgbClr val="000000"/>
                </a:solidFill>
                <a:effectLst/>
                <a:latin typeface="Consolas" panose="020B0609020204030204" pitchFamily="49" charset="0"/>
              </a:rPr>
              <a:t>0 98.905715 </a:t>
            </a:r>
          </a:p>
          <a:p>
            <a:r>
              <a:rPr lang="en-US" dirty="0">
                <a:solidFill>
                  <a:srgbClr val="000000"/>
                </a:solidFill>
                <a:latin typeface="Consolas" panose="020B0609020204030204" pitchFamily="49" charset="0"/>
              </a:rPr>
              <a:t> </a:t>
            </a:r>
            <a:r>
              <a:rPr lang="en-US" b="0" i="0" dirty="0">
                <a:solidFill>
                  <a:srgbClr val="000000"/>
                </a:solidFill>
                <a:effectLst/>
                <a:latin typeface="Consolas" panose="020B0609020204030204" pitchFamily="49" charset="0"/>
              </a:rPr>
              <a:t>1 1.094285</a:t>
            </a:r>
            <a:endParaRPr lang="en-US" dirty="0"/>
          </a:p>
        </p:txBody>
      </p:sp>
    </p:spTree>
    <p:extLst>
      <p:ext uri="{BB962C8B-B14F-4D97-AF65-F5344CB8AC3E}">
        <p14:creationId xmlns:p14="http://schemas.microsoft.com/office/powerpoint/2010/main" val="2934671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BBBB-7AFA-0D63-ECF9-A185ADAA8CD1}"/>
              </a:ext>
            </a:extLst>
          </p:cNvPr>
          <p:cNvSpPr>
            <a:spLocks noGrp="1"/>
          </p:cNvSpPr>
          <p:nvPr>
            <p:ph type="title"/>
          </p:nvPr>
        </p:nvSpPr>
        <p:spPr/>
        <p:txBody>
          <a:bodyPr/>
          <a:lstStyle/>
          <a:p>
            <a:r>
              <a:rPr lang="en-US" dirty="0"/>
              <a:t>Data Cleaning and Data Preprocessing</a:t>
            </a:r>
          </a:p>
        </p:txBody>
      </p:sp>
      <p:sp>
        <p:nvSpPr>
          <p:cNvPr id="3" name="Content Placeholder 2">
            <a:extLst>
              <a:ext uri="{FF2B5EF4-FFF2-40B4-BE49-F238E27FC236}">
                <a16:creationId xmlns:a16="http://schemas.microsoft.com/office/drawing/2014/main" id="{F70B0C61-9E5D-4942-9E45-F48B6E36FB5C}"/>
              </a:ext>
            </a:extLst>
          </p:cNvPr>
          <p:cNvSpPr>
            <a:spLocks noGrp="1"/>
          </p:cNvSpPr>
          <p:nvPr>
            <p:ph idx="1"/>
          </p:nvPr>
        </p:nvSpPr>
        <p:spPr/>
        <p:txBody>
          <a:bodyPr/>
          <a:lstStyle/>
          <a:p>
            <a:r>
              <a:rPr lang="en-US" dirty="0"/>
              <a:t>Duplicate Rows (3033 rows duplicated)</a:t>
            </a:r>
          </a:p>
          <a:p>
            <a:pPr lvl="1"/>
            <a:r>
              <a:rPr lang="en-US" dirty="0">
                <a:solidFill>
                  <a:schemeClr val="tx2">
                    <a:lumMod val="75000"/>
                    <a:lumOff val="25000"/>
                  </a:schemeClr>
                </a:solidFill>
              </a:rPr>
              <a:t>All duplicate rows are deleted.</a:t>
            </a:r>
          </a:p>
          <a:p>
            <a:r>
              <a:rPr lang="en-US" dirty="0"/>
              <a:t>Handling Missing Values</a:t>
            </a:r>
          </a:p>
          <a:p>
            <a:pPr lvl="1"/>
            <a:r>
              <a:rPr lang="en-US" dirty="0">
                <a:solidFill>
                  <a:schemeClr val="tx2">
                    <a:lumMod val="75000"/>
                    <a:lumOff val="25000"/>
                  </a:schemeClr>
                </a:solidFill>
              </a:rPr>
              <a:t>Variables ‘</a:t>
            </a:r>
            <a:r>
              <a:rPr lang="en-US" dirty="0" err="1">
                <a:solidFill>
                  <a:schemeClr val="tx2">
                    <a:lumMod val="75000"/>
                    <a:lumOff val="25000"/>
                  </a:schemeClr>
                </a:solidFill>
              </a:rPr>
              <a:t>isWeekend</a:t>
            </a:r>
            <a:r>
              <a:rPr lang="en-US" dirty="0">
                <a:solidFill>
                  <a:schemeClr val="tx2">
                    <a:lumMod val="75000"/>
                    <a:lumOff val="25000"/>
                  </a:schemeClr>
                </a:solidFill>
              </a:rPr>
              <a:t>’ &amp; ‘Category’ has missing values, the missing values of ‘</a:t>
            </a:r>
            <a:r>
              <a:rPr lang="en-US" dirty="0" err="1">
                <a:solidFill>
                  <a:schemeClr val="tx2">
                    <a:lumMod val="75000"/>
                    <a:lumOff val="25000"/>
                  </a:schemeClr>
                </a:solidFill>
              </a:rPr>
              <a:t>isWeekend</a:t>
            </a:r>
            <a:r>
              <a:rPr lang="en-US" dirty="0">
                <a:solidFill>
                  <a:schemeClr val="tx2">
                    <a:lumMod val="75000"/>
                    <a:lumOff val="25000"/>
                  </a:schemeClr>
                </a:solidFill>
              </a:rPr>
              <a:t>’ is aligned with ‘label’s category of ‘fraud’ </a:t>
            </a:r>
            <a:r>
              <a:rPr lang="en-US" dirty="0" err="1">
                <a:solidFill>
                  <a:schemeClr val="tx2">
                    <a:lumMod val="75000"/>
                    <a:lumOff val="25000"/>
                  </a:schemeClr>
                </a:solidFill>
              </a:rPr>
              <a:t>i.e</a:t>
            </a:r>
            <a:r>
              <a:rPr lang="en-US" dirty="0">
                <a:solidFill>
                  <a:schemeClr val="tx2">
                    <a:lumMod val="75000"/>
                    <a:lumOff val="25000"/>
                  </a:schemeClr>
                </a:solidFill>
              </a:rPr>
              <a:t> 1. So we can not impute this variable with 0 or 1. So dropped this column. </a:t>
            </a:r>
          </a:p>
          <a:p>
            <a:r>
              <a:rPr lang="en-US" dirty="0"/>
              <a:t>Encoding the Categorical Columns</a:t>
            </a:r>
          </a:p>
          <a:p>
            <a:r>
              <a:rPr lang="en-US" dirty="0"/>
              <a:t>Feature Scaling </a:t>
            </a:r>
          </a:p>
          <a:p>
            <a:r>
              <a:rPr lang="en-US" dirty="0"/>
              <a:t>Imbalance treatment – using SMOTE</a:t>
            </a:r>
          </a:p>
          <a:p>
            <a:endParaRPr lang="en-US" dirty="0"/>
          </a:p>
          <a:p>
            <a:endParaRPr lang="en-US" dirty="0"/>
          </a:p>
        </p:txBody>
      </p:sp>
    </p:spTree>
    <p:extLst>
      <p:ext uri="{BB962C8B-B14F-4D97-AF65-F5344CB8AC3E}">
        <p14:creationId xmlns:p14="http://schemas.microsoft.com/office/powerpoint/2010/main" val="1732358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53FB8-47C3-9718-AFC9-CC41AD87FF7B}"/>
              </a:ext>
            </a:extLst>
          </p:cNvPr>
          <p:cNvSpPr>
            <a:spLocks noGrp="1"/>
          </p:cNvSpPr>
          <p:nvPr>
            <p:ph type="title"/>
          </p:nvPr>
        </p:nvSpPr>
        <p:spPr/>
        <p:txBody>
          <a:bodyPr/>
          <a:lstStyle/>
          <a:p>
            <a:r>
              <a:rPr lang="en-US" dirty="0"/>
              <a:t>Model Selection</a:t>
            </a:r>
          </a:p>
        </p:txBody>
      </p:sp>
      <p:sp>
        <p:nvSpPr>
          <p:cNvPr id="3" name="Content Placeholder 2">
            <a:extLst>
              <a:ext uri="{FF2B5EF4-FFF2-40B4-BE49-F238E27FC236}">
                <a16:creationId xmlns:a16="http://schemas.microsoft.com/office/drawing/2014/main" id="{2F366571-6ADF-4237-D7C4-89ED95661963}"/>
              </a:ext>
            </a:extLst>
          </p:cNvPr>
          <p:cNvSpPr>
            <a:spLocks noGrp="1"/>
          </p:cNvSpPr>
          <p:nvPr>
            <p:ph idx="1"/>
          </p:nvPr>
        </p:nvSpPr>
        <p:spPr/>
        <p:txBody>
          <a:bodyPr>
            <a:noAutofit/>
          </a:bodyPr>
          <a:lstStyle/>
          <a:p>
            <a:pPr marL="285750" indent="-285750">
              <a:lnSpc>
                <a:spcPct val="150000"/>
              </a:lnSpc>
              <a:spcBef>
                <a:spcPts val="0"/>
              </a:spcBef>
              <a:buFontTx/>
              <a:buChar char="-"/>
            </a:pPr>
            <a:r>
              <a:rPr lang="en-US" sz="1600" b="1" dirty="0">
                <a:solidFill>
                  <a:srgbClr val="C00000"/>
                </a:solidFill>
              </a:rPr>
              <a:t>Logistic Regression:</a:t>
            </a:r>
            <a:r>
              <a:rPr lang="en-US" sz="1600" dirty="0">
                <a:solidFill>
                  <a:schemeClr val="tx2">
                    <a:lumMod val="75000"/>
                    <a:lumOff val="25000"/>
                  </a:schemeClr>
                </a:solidFill>
              </a:rPr>
              <a:t> </a:t>
            </a:r>
            <a:r>
              <a:rPr lang="en-US" sz="1600" dirty="0"/>
              <a:t>A linear model used for binary classification (predicting one of two classes). </a:t>
            </a:r>
          </a:p>
          <a:p>
            <a:pPr marL="285750" indent="-285750">
              <a:lnSpc>
                <a:spcPct val="150000"/>
              </a:lnSpc>
              <a:spcBef>
                <a:spcPts val="0"/>
              </a:spcBef>
              <a:buFontTx/>
              <a:buChar char="-"/>
            </a:pPr>
            <a:r>
              <a:rPr lang="en-US" sz="1600" b="1" dirty="0">
                <a:solidFill>
                  <a:srgbClr val="C00000"/>
                </a:solidFill>
              </a:rPr>
              <a:t>Decision Trees: </a:t>
            </a:r>
            <a:r>
              <a:rPr lang="en-US" sz="1600" dirty="0"/>
              <a:t>A non-linear model that uses a tree-like structure to make decisions based on data features. </a:t>
            </a:r>
          </a:p>
          <a:p>
            <a:pPr marL="285750" indent="-285750">
              <a:lnSpc>
                <a:spcPct val="150000"/>
              </a:lnSpc>
              <a:spcBef>
                <a:spcPts val="0"/>
              </a:spcBef>
              <a:buFontTx/>
              <a:buChar char="-"/>
            </a:pPr>
            <a:r>
              <a:rPr lang="en-US" sz="1600" b="1" dirty="0">
                <a:solidFill>
                  <a:srgbClr val="C00000"/>
                </a:solidFill>
              </a:rPr>
              <a:t>Random Forests: </a:t>
            </a:r>
            <a:r>
              <a:rPr lang="en-US" sz="1600" dirty="0"/>
              <a:t>An ensemble method that combines multiple decision trees to improve accuracy and robustness. </a:t>
            </a:r>
          </a:p>
          <a:p>
            <a:pPr marL="285750" indent="-285750">
              <a:lnSpc>
                <a:spcPct val="150000"/>
              </a:lnSpc>
              <a:spcBef>
                <a:spcPts val="0"/>
              </a:spcBef>
              <a:buFontTx/>
              <a:buChar char="-"/>
            </a:pPr>
            <a:r>
              <a:rPr lang="en-US" sz="1600" b="1" dirty="0">
                <a:solidFill>
                  <a:srgbClr val="C00000"/>
                </a:solidFill>
              </a:rPr>
              <a:t>SVM:</a:t>
            </a:r>
            <a:r>
              <a:rPr lang="en-US" sz="1600" dirty="0">
                <a:solidFill>
                  <a:schemeClr val="tx2">
                    <a:lumMod val="75000"/>
                    <a:lumOff val="25000"/>
                  </a:schemeClr>
                </a:solidFill>
              </a:rPr>
              <a:t> </a:t>
            </a:r>
            <a:r>
              <a:rPr lang="en-US" sz="1600" dirty="0"/>
              <a:t>A powerful algorithm that finds the optimal hyperplane to separate data into classes. </a:t>
            </a:r>
          </a:p>
          <a:p>
            <a:pPr marL="285750" indent="-285750">
              <a:lnSpc>
                <a:spcPct val="150000"/>
              </a:lnSpc>
              <a:spcBef>
                <a:spcPts val="0"/>
              </a:spcBef>
              <a:buFontTx/>
              <a:buChar char="-"/>
            </a:pPr>
            <a:r>
              <a:rPr lang="en-US" sz="1600" b="1" dirty="0">
                <a:solidFill>
                  <a:srgbClr val="C00000"/>
                </a:solidFill>
              </a:rPr>
              <a:t>K-Nearest Neighbors: </a:t>
            </a:r>
            <a:r>
              <a:rPr lang="en-US" sz="1600" dirty="0"/>
              <a:t>A non-parametric algorithm that classifies data based on the majority class of its nearest neighbors. </a:t>
            </a:r>
          </a:p>
          <a:p>
            <a:pPr marL="285750" indent="-285750">
              <a:lnSpc>
                <a:spcPct val="150000"/>
              </a:lnSpc>
              <a:spcBef>
                <a:spcPts val="0"/>
              </a:spcBef>
              <a:buFontTx/>
              <a:buChar char="-"/>
            </a:pPr>
            <a:r>
              <a:rPr lang="en-US" sz="1600" b="1" dirty="0">
                <a:solidFill>
                  <a:srgbClr val="C00000"/>
                </a:solidFill>
              </a:rPr>
              <a:t>Gradient Boosting: </a:t>
            </a:r>
            <a:r>
              <a:rPr lang="en-US" sz="1600" b="1" dirty="0"/>
              <a:t> </a:t>
            </a:r>
            <a:r>
              <a:rPr lang="en-US" sz="1600" dirty="0"/>
              <a:t>It is an ensemble learning method used for classification and regression tasks. It is a boosting algorithm which combine multiple weak learner to create a strong predictive model. It works by sequentially training models where each new model tries to correct the errors made by its predecessor.</a:t>
            </a:r>
          </a:p>
          <a:p>
            <a:pPr marL="285750" indent="-285750">
              <a:lnSpc>
                <a:spcPct val="150000"/>
              </a:lnSpc>
              <a:spcBef>
                <a:spcPts val="0"/>
              </a:spcBef>
              <a:buFontTx/>
              <a:buChar char="-"/>
            </a:pPr>
            <a:r>
              <a:rPr lang="en-US" sz="1600" b="1" dirty="0" err="1">
                <a:solidFill>
                  <a:srgbClr val="C00000"/>
                </a:solidFill>
              </a:rPr>
              <a:t>XGBoost</a:t>
            </a:r>
            <a:r>
              <a:rPr lang="en-US" sz="1600" b="1" dirty="0">
                <a:solidFill>
                  <a:srgbClr val="C00000"/>
                </a:solidFill>
              </a:rPr>
              <a:t> (Extreme Gradient Boosting) : </a:t>
            </a:r>
            <a:r>
              <a:rPr lang="en-US" sz="1600" dirty="0"/>
              <a:t>Advanced version of Gradient Boosting that includes regularization to prevent overfitting. Faster than traditional Gradient Boosting, for large datasets.</a:t>
            </a:r>
          </a:p>
        </p:txBody>
      </p:sp>
    </p:spTree>
    <p:extLst>
      <p:ext uri="{BB962C8B-B14F-4D97-AF65-F5344CB8AC3E}">
        <p14:creationId xmlns:p14="http://schemas.microsoft.com/office/powerpoint/2010/main" val="59880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844CB-8C87-B066-9E2C-A5FA8D788F44}"/>
              </a:ext>
            </a:extLst>
          </p:cNvPr>
          <p:cNvSpPr>
            <a:spLocks noGrp="1"/>
          </p:cNvSpPr>
          <p:nvPr>
            <p:ph type="title"/>
          </p:nvPr>
        </p:nvSpPr>
        <p:spPr/>
        <p:txBody>
          <a:bodyPr/>
          <a:lstStyle/>
          <a:p>
            <a:r>
              <a:rPr lang="en-US" dirty="0"/>
              <a:t>Model Training &amp; Evaluation</a:t>
            </a:r>
          </a:p>
        </p:txBody>
      </p:sp>
      <p:sp>
        <p:nvSpPr>
          <p:cNvPr id="3" name="Content Placeholder 2">
            <a:extLst>
              <a:ext uri="{FF2B5EF4-FFF2-40B4-BE49-F238E27FC236}">
                <a16:creationId xmlns:a16="http://schemas.microsoft.com/office/drawing/2014/main" id="{BF5277BA-3FFA-2E70-233B-F94E58AF307F}"/>
              </a:ext>
            </a:extLst>
          </p:cNvPr>
          <p:cNvSpPr>
            <a:spLocks noGrp="1"/>
          </p:cNvSpPr>
          <p:nvPr>
            <p:ph idx="1"/>
          </p:nvPr>
        </p:nvSpPr>
        <p:spPr/>
        <p:txBody>
          <a:bodyPr>
            <a:normAutofit fontScale="92500" lnSpcReduction="10000"/>
          </a:bodyPr>
          <a:lstStyle/>
          <a:p>
            <a:pPr>
              <a:lnSpc>
                <a:spcPct val="100000"/>
              </a:lnSpc>
            </a:pPr>
            <a:r>
              <a:rPr lang="en-US" dirty="0"/>
              <a:t>Train and Test Split</a:t>
            </a:r>
          </a:p>
          <a:p>
            <a:pPr marL="0" indent="0">
              <a:lnSpc>
                <a:spcPct val="100000"/>
              </a:lnSpc>
              <a:buNone/>
            </a:pPr>
            <a:r>
              <a:rPr lang="en-US" dirty="0"/>
              <a:t>   - Split the data 80% Train data and 20% Test data</a:t>
            </a:r>
          </a:p>
          <a:p>
            <a:pPr>
              <a:lnSpc>
                <a:spcPct val="100000"/>
              </a:lnSpc>
            </a:pPr>
            <a:r>
              <a:rPr lang="en-US" dirty="0"/>
              <a:t>Metrics used for evaluation (Performance Matrix):</a:t>
            </a:r>
          </a:p>
          <a:p>
            <a:pPr marL="0" indent="0">
              <a:lnSpc>
                <a:spcPct val="100000"/>
              </a:lnSpc>
              <a:buNone/>
            </a:pPr>
            <a:r>
              <a:rPr lang="en-US" dirty="0"/>
              <a:t>  - Accuracy: Overall correctness.</a:t>
            </a:r>
          </a:p>
          <a:p>
            <a:pPr marL="0" indent="0">
              <a:lnSpc>
                <a:spcPct val="100000"/>
              </a:lnSpc>
              <a:buNone/>
            </a:pPr>
            <a:r>
              <a:rPr lang="en-US" dirty="0"/>
              <a:t>  - Precision: Correct positive predictions.</a:t>
            </a:r>
          </a:p>
          <a:p>
            <a:pPr marL="0" indent="0">
              <a:lnSpc>
                <a:spcPct val="100000"/>
              </a:lnSpc>
              <a:buNone/>
            </a:pPr>
            <a:r>
              <a:rPr lang="en-US" dirty="0"/>
              <a:t>  - Recall: Ability to detect all Dissatisfied cases.</a:t>
            </a:r>
          </a:p>
          <a:p>
            <a:pPr marL="0" indent="0">
              <a:lnSpc>
                <a:spcPct val="100000"/>
              </a:lnSpc>
              <a:buNone/>
            </a:pPr>
            <a:r>
              <a:rPr lang="en-US" dirty="0"/>
              <a:t>  - F1 Score: Balancing precision and recall.</a:t>
            </a:r>
          </a:p>
          <a:p>
            <a:pPr marL="0" indent="0">
              <a:lnSpc>
                <a:spcPct val="100000"/>
              </a:lnSpc>
              <a:buNone/>
            </a:pPr>
            <a:r>
              <a:rPr lang="en-US" dirty="0"/>
              <a:t>  - ROC Curve: Visualizing trade-offs between true positive and false positive rates.</a:t>
            </a:r>
          </a:p>
        </p:txBody>
      </p:sp>
    </p:spTree>
    <p:extLst>
      <p:ext uri="{BB962C8B-B14F-4D97-AF65-F5344CB8AC3E}">
        <p14:creationId xmlns:p14="http://schemas.microsoft.com/office/powerpoint/2010/main" val="1184190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8ED1-27EE-4772-65DD-77A077B1675C}"/>
              </a:ext>
            </a:extLst>
          </p:cNvPr>
          <p:cNvSpPr>
            <a:spLocks noGrp="1"/>
          </p:cNvSpPr>
          <p:nvPr>
            <p:ph type="title"/>
          </p:nvPr>
        </p:nvSpPr>
        <p:spPr/>
        <p:txBody>
          <a:bodyPr/>
          <a:lstStyle/>
          <a:p>
            <a:r>
              <a:rPr lang="en-US" dirty="0"/>
              <a:t>Models Evaluation</a:t>
            </a:r>
          </a:p>
        </p:txBody>
      </p:sp>
      <p:pic>
        <p:nvPicPr>
          <p:cNvPr id="5" name="Content Placeholder 4">
            <a:extLst>
              <a:ext uri="{FF2B5EF4-FFF2-40B4-BE49-F238E27FC236}">
                <a16:creationId xmlns:a16="http://schemas.microsoft.com/office/drawing/2014/main" id="{158A318E-1DBF-525A-3E0D-08C5ED69737B}"/>
              </a:ext>
            </a:extLst>
          </p:cNvPr>
          <p:cNvPicPr>
            <a:picLocks noGrp="1" noChangeAspect="1"/>
          </p:cNvPicPr>
          <p:nvPr>
            <p:ph idx="1"/>
          </p:nvPr>
        </p:nvPicPr>
        <p:blipFill>
          <a:blip r:embed="rId2"/>
          <a:stretch>
            <a:fillRect/>
          </a:stretch>
        </p:blipFill>
        <p:spPr>
          <a:xfrm>
            <a:off x="2518346" y="1564367"/>
            <a:ext cx="7155308" cy="5171907"/>
          </a:xfrm>
          <a:prstGeom prst="rect">
            <a:avLst/>
          </a:prstGeom>
        </p:spPr>
      </p:pic>
    </p:spTree>
    <p:extLst>
      <p:ext uri="{BB962C8B-B14F-4D97-AF65-F5344CB8AC3E}">
        <p14:creationId xmlns:p14="http://schemas.microsoft.com/office/powerpoint/2010/main" val="2404687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296C-8B0A-CA91-ABE6-ACE4E7AC5BF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81695DF-F696-0046-A1BA-495EB0EDBE0C}"/>
              </a:ext>
            </a:extLst>
          </p:cNvPr>
          <p:cNvSpPr>
            <a:spLocks noGrp="1"/>
          </p:cNvSpPr>
          <p:nvPr>
            <p:ph idx="1"/>
          </p:nvPr>
        </p:nvSpPr>
        <p:spPr/>
        <p:txBody>
          <a:bodyPr>
            <a:normAutofit lnSpcReduction="10000"/>
          </a:bodyPr>
          <a:lstStyle/>
          <a:p>
            <a:pPr marL="0" indent="0">
              <a:lnSpc>
                <a:spcPct val="150000"/>
              </a:lnSpc>
              <a:buNone/>
            </a:pPr>
            <a:r>
              <a:rPr lang="en-US" sz="2400" dirty="0"/>
              <a:t>All models achieved high accuracy, with tree-based methods (Decision Tree, Random Forest, Gradient Boosting, </a:t>
            </a:r>
            <a:r>
              <a:rPr lang="en-US" sz="2400" dirty="0" err="1"/>
              <a:t>XGBoost</a:t>
            </a:r>
            <a:r>
              <a:rPr lang="en-US" sz="2400" dirty="0"/>
              <a:t>) delivering perfect scores. </a:t>
            </a:r>
            <a:r>
              <a:rPr lang="en-US" sz="2400" dirty="0" err="1"/>
              <a:t>GaussianNB</a:t>
            </a:r>
            <a:r>
              <a:rPr lang="en-US" sz="2400" dirty="0"/>
              <a:t> and KNN also performed exceptionally well. While perfect accuracy may indicate strong learning, it could also suggest overfitting — therefore, cross-validation is recommended to validate generalization performance. For a balance of accuracy, simplicity, and interpretability, </a:t>
            </a:r>
            <a:r>
              <a:rPr lang="en-US" sz="2400" dirty="0" err="1"/>
              <a:t>GaussianNB</a:t>
            </a:r>
            <a:r>
              <a:rPr lang="en-US" sz="2400" dirty="0"/>
              <a:t> or KNN may be preferred, whereas tree-based ensembles offer maximum predictive power.</a:t>
            </a:r>
          </a:p>
        </p:txBody>
      </p:sp>
    </p:spTree>
    <p:extLst>
      <p:ext uri="{BB962C8B-B14F-4D97-AF65-F5344CB8AC3E}">
        <p14:creationId xmlns:p14="http://schemas.microsoft.com/office/powerpoint/2010/main" val="1897167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703</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Consolas</vt:lpstr>
      <vt:lpstr>Office Theme</vt:lpstr>
      <vt:lpstr>Detecting Fraudulent Transactions with Advanced Machine Learning Techniques and Predictive Analytics</vt:lpstr>
      <vt:lpstr>Problem Statement</vt:lpstr>
      <vt:lpstr>Data Dictionary</vt:lpstr>
      <vt:lpstr>Data Distribution of numerical features</vt:lpstr>
      <vt:lpstr>Data Distribution of Categorical features</vt:lpstr>
      <vt:lpstr>Analysing the target column: Imbalance data </vt:lpstr>
      <vt:lpstr>Data Cleaning and Data Preprocessing</vt:lpstr>
      <vt:lpstr>Model Selection</vt:lpstr>
      <vt:lpstr>Model Training &amp; Evaluation</vt:lpstr>
      <vt:lpstr>Models Evaluation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Latha</dc:creator>
  <cp:lastModifiedBy>Karunakar Reddy</cp:lastModifiedBy>
  <cp:revision>4</cp:revision>
  <dcterms:created xsi:type="dcterms:W3CDTF">2025-08-09T16:45:35Z</dcterms:created>
  <dcterms:modified xsi:type="dcterms:W3CDTF">2025-08-09T17:28:32Z</dcterms:modified>
</cp:coreProperties>
</file>